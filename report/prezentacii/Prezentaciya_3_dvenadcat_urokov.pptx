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Если класс уже программировал, добавьте к каждому уроку задание со звёздочкой: найти в коде модуль, который отвечает за этот эффект.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Порядок менять не рекомендуется: таймлайн опирается на анимации, а физика — на понимание кадра.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Проверьте заранее: откройте комнату с одного ученического места и убедитесь, что сервер виден по адресу в локальной сети.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Озвучьте правила в первый же урок и повесьте их на стену: дальше ссылка на правило экономит минуты.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Самое ценное — показ приёма. Если приём показан плохо, остальные тридцать минут уходят на одинаковые вопросы.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Не объясняйте устройство программы. Первый урок должен закончиться готовой картинкой, это сильнее любого рассказа.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Покажите две ученические работы и спросите, какая «холоднее». Это лучший способ ввести понятие композиции без терминов.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Хороший вопрос классу: какая анимация подойдёт к сердцебиению, а какая — к падению листа.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Объясните кадр как рисунок в книжке-раскладушке. Это снимает основное затруднение: «почему я не рисую всё вручную».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Задание с пятью отскоками считается выполненным, если ученик может повторить результат, а не угадал его один раз.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Попросите записать траекторию, а потом проиграть её заново. Расхождение с ожиданием — повод обсудить погрешность.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На телефоне этот урок идёт особенно хорошо: наклон устройства понятнее, чем вращение мышью.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Заранее предупредите про разрешение браузера на микрофон и приготовьте наушники — иначе будет шум.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Соблюдение длительности — часть задания. Умение уложиться в десять секунд ценится выше красивых эффектов.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Дайте ровно двадцать минут и остановите по таймеру. Песочница затягивает, и это единственный урок, где нужен жёсткий лимит.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Меняйте составы: лучше всего работает группа, где ученики изначально не сидят рядом.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Пригласите на защиту другого учителя. При внешнем слушателе ученики готовятся заметно серьёзнее.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Раздайте список в девятом уроке: за две недели ученик успевает придумать свою тему поверх предложенной.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Оценивайте по четырём пунктам отдельно, а не одним баллом: так оценка перестаёт быть спорной.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Показывайте ошибку как приём: «сейчас я сделаю неправильно, найдите, что не так». Это работает лучше запрета.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Держите этот список на видном месте: большинство вопросов ученики снимут сами, прочитав две строки.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Сильный ученик без отдельного задания заскучает к пятому уроку. Продумайте его роль заранее.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Главное правило: отстающий должен закончить урок с готовой работой, пусть самой простой. Незавершённость демотивирует.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Главное — оставить защиту последней. Если её сдвинуть, курс теряет завершённость, и это чувствуют все.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Каждую тему берите дважды: сначала на практике в программе, потом — как термин в учебнике. Порядок именно такой.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Пригласите учителя физики на шестой урок: формулы он даст своими словами, а программа даст наблюдение.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Проверяйте задание в первые три минуты урока. Непроверенное задание перестают делать после второго раза.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Формулировки практической части печатайте на листах: экран занимать нельзя, он нужен для работы.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Ответы эти же пригодятся на родительском собрании: вопросы родителей совпадают с вопросами коллег почти дословно.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Четыре пункта, две минуты. Большинство срывов урока происходит из-за первого пункта.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noFill/>
          <a:ln w="15875">
            <a:solidFill>
              <a:srgbClr val="D6C3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502920"/>
            <a:ext cx="11185855" cy="5852160"/>
          </a:xfrm>
          <a:prstGeom prst="rect">
            <a:avLst/>
          </a:prstGeom>
          <a:noFill/>
          <a:ln w="15875">
            <a:solidFill>
              <a:srgbClr val="D6C3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74519"/>
            <a:ext cx="101498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400" b="1">
                <a:solidFill>
                  <a:srgbClr val="7F1D1D"/>
                </a:solidFill>
                <a:latin typeface="Georgia"/>
              </a:rPr>
              <a:t>Двенадцать уроков анимации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246120"/>
            <a:ext cx="95097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200" b="0">
                <a:solidFill>
                  <a:srgbClr val="92400E"/>
                </a:solidFill>
                <a:latin typeface="Georgia"/>
              </a:rPr>
              <a:t>Поурочное планирование курса: цели, задания, критерии, типичные трудности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709160"/>
            <a:ext cx="95097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0">
                <a:solidFill>
                  <a:srgbClr val="6B5844"/>
                </a:solidFill>
                <a:latin typeface="Georgia"/>
              </a:rPr>
              <a:t>Курс для 7-9 класса: 12 уроков по 45 минут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0">
                <a:solidFill>
                  <a:srgbClr val="6B5844"/>
                </a:solidFill>
                <a:latin typeface="Georgia"/>
              </a:rPr>
              <a:t>Формат: минимум теории, максимум практики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noFill/>
          <a:ln w="15875">
            <a:solidFill>
              <a:srgbClr val="D6C3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>
                <a:solidFill>
                  <a:srgbClr val="7F1D1D"/>
                </a:solidFill>
                <a:latin typeface="Georgia"/>
              </a:rPr>
              <a:t>Для кого этот курс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89888"/>
            <a:ext cx="2011680" cy="3657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463040"/>
            <a:ext cx="2011680" cy="3657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45920"/>
            <a:ext cx="1078992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F2D1E"/>
                </a:solidFill>
                <a:latin typeface="Georgia"/>
              </a:rPr>
              <a:t>— Ученики 7-9 класса, базовый уровень информатики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F2D1E"/>
                </a:solidFill>
                <a:latin typeface="Georgia"/>
              </a:rPr>
              <a:t>— Не требуется опыт программирования: всё делается руками в браузере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F2D1E"/>
                </a:solidFill>
                <a:latin typeface="Georgia"/>
              </a:rPr>
              <a:t>— Курс идёт как кружок или как практическая часть уроков информатики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F2D1E"/>
                </a:solidFill>
                <a:latin typeface="Georgia"/>
              </a:rPr>
              <a:t>— Итог — свой проект: сцена, анимация и запись результата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355080"/>
            <a:ext cx="1078992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8A7355"/>
                </a:solidFill>
                <a:latin typeface="Georgia"/>
              </a:rPr>
              <a:t>Двенадцать уроков анимации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8A7355"/>
                </a:solidFill>
                <a:latin typeface="Georgia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noFill/>
          <a:ln w="15875">
            <a:solidFill>
              <a:srgbClr val="D6C3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>
                <a:solidFill>
                  <a:srgbClr val="7F1D1D"/>
                </a:solidFill>
                <a:latin typeface="Georgia"/>
              </a:rPr>
              <a:t>Сетка курса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89888"/>
            <a:ext cx="2011680" cy="3657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463040"/>
            <a:ext cx="2011680" cy="3657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45920"/>
            <a:ext cx="571500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0">
                <a:solidFill>
                  <a:srgbClr val="3F2D1E"/>
                </a:solidFill>
                <a:latin typeface="Georgia"/>
              </a:rPr>
              <a:t>— Первая четверть курса: сцена, объекты, анимации, таймлайн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0">
                <a:solidFill>
                  <a:srgbClr val="3F2D1E"/>
                </a:solidFill>
                <a:latin typeface="Georgia"/>
              </a:rPr>
              <a:t>— Вторая четверть: физика, трёхмерный режим, звук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0">
                <a:solidFill>
                  <a:srgbClr val="3F2D1E"/>
                </a:solidFill>
                <a:latin typeface="Georgia"/>
              </a:rPr>
              <a:t>— Третья четверть: медиа, запись, песочница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0">
                <a:solidFill>
                  <a:srgbClr val="3F2D1E"/>
                </a:solidFill>
                <a:latin typeface="Georgia"/>
              </a:rPr>
              <a:t>— Последняя четверть: совместная работа и итоговый проект</a:t>
            </a:r>
          </a:p>
        </p:txBody>
      </p:sp>
      <p:pic>
        <p:nvPicPr>
          <p:cNvPr id="8" name="Picture 7" descr="fig8-modu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2514600"/>
            <a:ext cx="4846320" cy="2423160"/>
          </a:xfrm>
          <a:prstGeom prst="rect">
            <a:avLst/>
          </a:prstGeom>
          <a:ln w="9525">
            <a:solidFill>
              <a:srgbClr val="B45309"/>
            </a:solidFill>
          </a:ln>
        </p:spPr>
      </p:pic>
      <p:sp>
        <p:nvSpPr>
          <p:cNvPr id="9" name="Rectangle 8"/>
          <p:cNvSpPr/>
          <p:nvPr/>
        </p:nvSpPr>
        <p:spPr>
          <a:xfrm>
            <a:off x="685800" y="6355080"/>
            <a:ext cx="1078992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8A7355"/>
                </a:solidFill>
                <a:latin typeface="Georgia"/>
              </a:rPr>
              <a:t>Двенадцать уроков анимации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8A7355"/>
                </a:solidFill>
                <a:latin typeface="Georgia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noFill/>
          <a:ln w="15875">
            <a:solidFill>
              <a:srgbClr val="D6C3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>
                <a:solidFill>
                  <a:srgbClr val="7F1D1D"/>
                </a:solidFill>
                <a:latin typeface="Georgia"/>
              </a:rPr>
              <a:t>Кабинет и подготовка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89888"/>
            <a:ext cx="2011680" cy="3657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463040"/>
            <a:ext cx="2011680" cy="3657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45920"/>
            <a:ext cx="1078992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F2D1E"/>
                </a:solidFill>
                <a:latin typeface="Georgia"/>
              </a:rPr>
              <a:t>— Компьютеров нужно на двоих, подойдут и планшеты от 4 дюймов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F2D1E"/>
                </a:solidFill>
                <a:latin typeface="Georgia"/>
              </a:rPr>
              <a:t>— Запустите сервер и запишите адрес комнаты на доске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F2D1E"/>
                </a:solidFill>
                <a:latin typeface="Georgia"/>
              </a:rPr>
              <a:t>— Код комнаты короче шести знаков, чтобы никто не ошибся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F2D1E"/>
                </a:solidFill>
                <a:latin typeface="Georgia"/>
              </a:rPr>
              <a:t>— Проверьте звук один раз и держите резервный план на случай сбоя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355080"/>
            <a:ext cx="1078992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8A7355"/>
                </a:solidFill>
                <a:latin typeface="Georgia"/>
              </a:rPr>
              <a:t>Двенадцать уроков анимации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8A7355"/>
                </a:solidFill>
                <a:latin typeface="Georgia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noFill/>
          <a:ln w="15875">
            <a:solidFill>
              <a:srgbClr val="D6C3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>
                <a:solidFill>
                  <a:srgbClr val="7F1D1D"/>
                </a:solidFill>
                <a:latin typeface="Georgia"/>
              </a:rPr>
              <a:t>Правила работы в комнате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89888"/>
            <a:ext cx="2011680" cy="3657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463040"/>
            <a:ext cx="2011680" cy="3657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45920"/>
            <a:ext cx="1078992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F2D1E"/>
                </a:solidFill>
                <a:latin typeface="Georgia"/>
              </a:rPr>
              <a:t>— Имя ученика — настоящая фамилия, это упрощает учёт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F2D1E"/>
                </a:solidFill>
                <a:latin typeface="Georgia"/>
              </a:rPr>
              <a:t>— Один ученик отвечает за одну фигуру, чужие не двигаем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F2D1E"/>
                </a:solidFill>
                <a:latin typeface="Georgia"/>
              </a:rPr>
              <a:t>— Руку поднимаем в чате кнопкой, а не кричим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F2D1E"/>
                </a:solidFill>
                <a:latin typeface="Georgia"/>
              </a:rPr>
              <a:t>— Через двадцать минут у экрана — перерыв и гимнастика для глаз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355080"/>
            <a:ext cx="1078992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8A7355"/>
                </a:solidFill>
                <a:latin typeface="Georgia"/>
              </a:rPr>
              <a:t>Двенадцать уроков анимации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8A7355"/>
                </a:solidFill>
                <a:latin typeface="Georgia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noFill/>
          <a:ln w="15875">
            <a:solidFill>
              <a:srgbClr val="D6C3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>
                <a:solidFill>
                  <a:srgbClr val="7F1D1D"/>
                </a:solidFill>
                <a:latin typeface="Georgia"/>
              </a:rPr>
              <a:t>Структура одного урока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89888"/>
            <a:ext cx="2011680" cy="3657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463040"/>
            <a:ext cx="2011680" cy="3657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45920"/>
            <a:ext cx="512064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3F2D1E"/>
                </a:solidFill>
                <a:latin typeface="Georgia"/>
              </a:rPr>
              <a:t>— 0-3 минуты: диагностика — один вопрос по прошлой теме в чате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3F2D1E"/>
                </a:solidFill>
                <a:latin typeface="Georgia"/>
              </a:rPr>
              <a:t>— 3-12 минут: показ приёма на проекторе, без теории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3F2D1E"/>
                </a:solidFill>
                <a:latin typeface="Georgia"/>
              </a:rPr>
              <a:t>— 12-33 минуты: самостоятельная работа, учитель ходит по рядам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502920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3F2D1E"/>
                </a:solidFill>
                <a:latin typeface="Georgia"/>
              </a:rPr>
              <a:t>— 33-42 минуты: показ двух-трёх работ и разбор типичной ошибки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3F2D1E"/>
                </a:solidFill>
                <a:latin typeface="Georgia"/>
              </a:rPr>
              <a:t>— 42-45 минуты: домашнее задание и один вопрос на следующий урок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6355080"/>
            <a:ext cx="1078992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8A7355"/>
                </a:solidFill>
                <a:latin typeface="Georgia"/>
              </a:rPr>
              <a:t>Двенадцать уроков анимации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8A7355"/>
                </a:solidFill>
                <a:latin typeface="Georgia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noFill/>
          <a:ln w="15875">
            <a:solidFill>
              <a:srgbClr val="D6C3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>
                <a:solidFill>
                  <a:srgbClr val="7F1D1D"/>
                </a:solidFill>
                <a:latin typeface="Georgia"/>
              </a:rPr>
              <a:t>Урок 1. Знакомство со сценой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89888"/>
            <a:ext cx="2011680" cy="3657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463040"/>
            <a:ext cx="2011680" cy="3657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45920"/>
            <a:ext cx="1078992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F2D1E"/>
                </a:solidFill>
                <a:latin typeface="Georgia"/>
              </a:rPr>
              <a:t>— Цель: каждый поставил на сцену три фигуры и сохранил сцену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F2D1E"/>
                </a:solidFill>
                <a:latin typeface="Georgia"/>
              </a:rPr>
              <a:t>— Приём: вкладка «Объект», перетаскивание мышью, стрелки на клавиатуре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F2D1E"/>
                </a:solidFill>
                <a:latin typeface="Georgia"/>
              </a:rPr>
              <a:t>— Задание: собрать простую картинку из фигур — дом, дерево, человека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F2D1E"/>
                </a:solidFill>
                <a:latin typeface="Georgia"/>
              </a:rPr>
              <a:t>— Диагностика: кто не смог сохранить, тот не понял панель целиком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355080"/>
            <a:ext cx="1078992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8A7355"/>
                </a:solidFill>
                <a:latin typeface="Georgia"/>
              </a:rPr>
              <a:t>Двенадцать уроков анимации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8A7355"/>
                </a:solidFill>
                <a:latin typeface="Georgia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noFill/>
          <a:ln w="15875">
            <a:solidFill>
              <a:srgbClr val="D6C3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>
                <a:solidFill>
                  <a:srgbClr val="7F1D1D"/>
                </a:solidFill>
                <a:latin typeface="Georgia"/>
              </a:rPr>
              <a:t>Урок 2. Цвет, форма, композиция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89888"/>
            <a:ext cx="2011680" cy="3657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463040"/>
            <a:ext cx="2011680" cy="3657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45920"/>
            <a:ext cx="1078992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F2D1E"/>
                </a:solidFill>
                <a:latin typeface="Georgia"/>
              </a:rPr>
              <a:t>— Цель: научиться различать случайный набор и осмысленную сцену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F2D1E"/>
                </a:solidFill>
                <a:latin typeface="Georgia"/>
              </a:rPr>
              <a:t>— Приём: палитра, прозрачность, свечение, порядок слоёв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F2D1E"/>
                </a:solidFill>
                <a:latin typeface="Georgia"/>
              </a:rPr>
              <a:t>— Задание: одна и та же сцена в тёплых и в холодных тонах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F2D1E"/>
                </a:solidFill>
                <a:latin typeface="Georgia"/>
              </a:rPr>
              <a:t>— Критерий: зритель понимает, что изображено, без пояснений автора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355080"/>
            <a:ext cx="1078992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8A7355"/>
                </a:solidFill>
                <a:latin typeface="Georgia"/>
              </a:rPr>
              <a:t>Двенадцать уроков анимации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8A7355"/>
                </a:solidFill>
                <a:latin typeface="Georgia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noFill/>
          <a:ln w="15875">
            <a:solidFill>
              <a:srgbClr val="D6C3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>
                <a:solidFill>
                  <a:srgbClr val="7F1D1D"/>
                </a:solidFill>
                <a:latin typeface="Georgia"/>
              </a:rPr>
              <a:t>Урок 3. Анимации и ритм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89888"/>
            <a:ext cx="2011680" cy="3657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463040"/>
            <a:ext cx="2011680" cy="3657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45920"/>
            <a:ext cx="1078992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F2D1E"/>
                </a:solidFill>
                <a:latin typeface="Georgia"/>
              </a:rPr>
              <a:t>— Цель: связать движение и настроение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F2D1E"/>
                </a:solidFill>
                <a:latin typeface="Georgia"/>
              </a:rPr>
              <a:t>— Приём: двадцать анимаций, скорость, повтор, кнопка остановки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F2D1E"/>
                </a:solidFill>
                <a:latin typeface="Georgia"/>
              </a:rPr>
              <a:t>— Задание: спокойная сцена и тревожная сцена из одинаковых фигур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F2D1E"/>
                </a:solidFill>
                <a:latin typeface="Georgia"/>
              </a:rPr>
              <a:t>— Диагностика: понимает ли ученик, что медленно не значит скучно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355080"/>
            <a:ext cx="1078992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8A7355"/>
                </a:solidFill>
                <a:latin typeface="Georgia"/>
              </a:rPr>
              <a:t>Двенадцать уроков анимации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8A7355"/>
                </a:solidFill>
                <a:latin typeface="Georgia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noFill/>
          <a:ln w="15875">
            <a:solidFill>
              <a:srgbClr val="D6C3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>
                <a:solidFill>
                  <a:srgbClr val="7F1D1D"/>
                </a:solidFill>
                <a:latin typeface="Georgia"/>
              </a:rPr>
              <a:t>Урок 4. Таймлайн и ключевые кадры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89888"/>
            <a:ext cx="2011680" cy="3657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463040"/>
            <a:ext cx="2011680" cy="3657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45920"/>
            <a:ext cx="571500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0">
                <a:solidFill>
                  <a:srgbClr val="3F2D1E"/>
                </a:solidFill>
                <a:latin typeface="Georgia"/>
              </a:rPr>
              <a:t>— Цель: собрать движение из ключевых кадров, а не из готовых эффектов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0">
                <a:solidFill>
                  <a:srgbClr val="3F2D1E"/>
                </a:solidFill>
                <a:latin typeface="Georgia"/>
              </a:rPr>
              <a:t>— Приём: поставить кадр в начале и в конце, посмотреть между ними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0">
                <a:solidFill>
                  <a:srgbClr val="3F2D1E"/>
                </a:solidFill>
                <a:latin typeface="Georgia"/>
              </a:rPr>
              <a:t>— Задание: фигура объезжает препятствие и возвращается на место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0">
                <a:solidFill>
                  <a:srgbClr val="3F2D1E"/>
                </a:solidFill>
                <a:latin typeface="Georgia"/>
              </a:rPr>
              <a:t>— Критерий: движение без рывков, два ключевых кадра минимум</a:t>
            </a:r>
          </a:p>
        </p:txBody>
      </p:sp>
      <p:pic>
        <p:nvPicPr>
          <p:cNvPr id="8" name="Picture 7" descr="fig3-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2436434"/>
            <a:ext cx="4846320" cy="2579492"/>
          </a:xfrm>
          <a:prstGeom prst="rect">
            <a:avLst/>
          </a:prstGeom>
          <a:ln w="9525">
            <a:solidFill>
              <a:srgbClr val="B45309"/>
            </a:solidFill>
          </a:ln>
        </p:spPr>
      </p:pic>
      <p:sp>
        <p:nvSpPr>
          <p:cNvPr id="9" name="Rectangle 8"/>
          <p:cNvSpPr/>
          <p:nvPr/>
        </p:nvSpPr>
        <p:spPr>
          <a:xfrm>
            <a:off x="685800" y="6355080"/>
            <a:ext cx="1078992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8A7355"/>
                </a:solidFill>
                <a:latin typeface="Georgia"/>
              </a:rPr>
              <a:t>Двенадцать уроков анимации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8A7355"/>
                </a:solidFill>
                <a:latin typeface="Georgia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noFill/>
          <a:ln w="15875">
            <a:solidFill>
              <a:srgbClr val="D6C3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>
                <a:solidFill>
                  <a:srgbClr val="7F1D1D"/>
                </a:solidFill>
                <a:latin typeface="Georgia"/>
              </a:rPr>
              <a:t>Урок 5. Физика: падение и упругость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89888"/>
            <a:ext cx="2011680" cy="3657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463040"/>
            <a:ext cx="2011680" cy="3657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45920"/>
            <a:ext cx="1078992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F2D1E"/>
                </a:solidFill>
                <a:latin typeface="Georgia"/>
              </a:rPr>
              <a:t>— Цель: увидеть связь между числом и поведением тела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F2D1E"/>
                </a:solidFill>
                <a:latin typeface="Georgia"/>
              </a:rPr>
              <a:t>— Приём: включить физику, менять гравитацию и упругость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F2D1E"/>
                </a:solidFill>
                <a:latin typeface="Georgia"/>
              </a:rPr>
              <a:t>— Задание: подобрать упругость так, чтобы мячик затух за пять отскоков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F2D1E"/>
                </a:solidFill>
                <a:latin typeface="Georgia"/>
              </a:rPr>
              <a:t>— Критерий: ученик называет, какое число он изменил и почему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355080"/>
            <a:ext cx="1078992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8A7355"/>
                </a:solidFill>
                <a:latin typeface="Georgia"/>
              </a:rPr>
              <a:t>Двенадцать уроков анимации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8A7355"/>
                </a:solidFill>
                <a:latin typeface="Georgia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noFill/>
          <a:ln w="15875">
            <a:solidFill>
              <a:srgbClr val="D6C3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>
                <a:solidFill>
                  <a:srgbClr val="7F1D1D"/>
                </a:solidFill>
                <a:latin typeface="Georgia"/>
              </a:rPr>
              <a:t>Урок 6. Столкновения и траектории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89888"/>
            <a:ext cx="2011680" cy="3657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463040"/>
            <a:ext cx="2011680" cy="3657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45920"/>
            <a:ext cx="1078992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F2D1E"/>
                </a:solidFill>
                <a:latin typeface="Georgia"/>
              </a:rPr>
              <a:t>— Цель: собрать систему из нескольких тел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F2D1E"/>
                </a:solidFill>
                <a:latin typeface="Georgia"/>
              </a:rPr>
              <a:t>— Приём: упругие столкновения, след движения, траектория кистью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F2D1E"/>
                </a:solidFill>
                <a:latin typeface="Georgia"/>
              </a:rPr>
              <a:t>— Задание: бильярд — три шара, должен упасть хотя бы один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F2D1E"/>
                </a:solidFill>
                <a:latin typeface="Georgia"/>
              </a:rPr>
              <a:t>— Диагностика: видит ли ученик, что импульс передаётся дальше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355080"/>
            <a:ext cx="1078992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8A7355"/>
                </a:solidFill>
                <a:latin typeface="Georgia"/>
              </a:rPr>
              <a:t>Двенадцать уроков анимации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8A7355"/>
                </a:solidFill>
                <a:latin typeface="Georgia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noFill/>
          <a:ln w="15875">
            <a:solidFill>
              <a:srgbClr val="D6C3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>
                <a:solidFill>
                  <a:srgbClr val="7F1D1D"/>
                </a:solidFill>
                <a:latin typeface="Georgia"/>
              </a:rPr>
              <a:t>Урок 7. Трёхмерная сцена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89888"/>
            <a:ext cx="2011680" cy="3657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463040"/>
            <a:ext cx="2011680" cy="3657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45920"/>
            <a:ext cx="1078992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F2D1E"/>
                </a:solidFill>
                <a:latin typeface="Georgia"/>
              </a:rPr>
              <a:t>— Цель: понять, что объём — это ещё одна координата и точка взгляда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F2D1E"/>
                </a:solidFill>
                <a:latin typeface="Georgia"/>
              </a:rPr>
              <a:t>— Приём: вращение камеры мышью, приближение колесом, глубина фигур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F2D1E"/>
                </a:solidFill>
                <a:latin typeface="Georgia"/>
              </a:rPr>
              <a:t>— Задание: спрятать одну фигуру за другой и снова её найти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F2D1E"/>
                </a:solidFill>
                <a:latin typeface="Georgia"/>
              </a:rPr>
              <a:t>— Критерий: ученик объясняет, почему фигура исчезла из вида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355080"/>
            <a:ext cx="1078992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8A7355"/>
                </a:solidFill>
                <a:latin typeface="Georgia"/>
              </a:rPr>
              <a:t>Двенадцать уроков анимации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8A7355"/>
                </a:solidFill>
                <a:latin typeface="Georgia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noFill/>
          <a:ln w="15875">
            <a:solidFill>
              <a:srgbClr val="D6C3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>
                <a:solidFill>
                  <a:srgbClr val="7F1D1D"/>
                </a:solidFill>
                <a:latin typeface="Georgia"/>
              </a:rPr>
              <a:t>Урок 8. Звук и речь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89888"/>
            <a:ext cx="2011680" cy="3657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463040"/>
            <a:ext cx="2011680" cy="3657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45920"/>
            <a:ext cx="1078992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F2D1E"/>
                </a:solidFill>
                <a:latin typeface="Georgia"/>
              </a:rPr>
              <a:t>— Цель: связать изображение и звук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F2D1E"/>
                </a:solidFill>
                <a:latin typeface="Georgia"/>
              </a:rPr>
              <a:t>— Приём: синтез звука по частоте и длительности, микрофон, громкость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F2D1E"/>
                </a:solidFill>
                <a:latin typeface="Georgia"/>
              </a:rPr>
              <a:t>— Задание: озвучить свою сцену тремя звуками, не больше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F2D1E"/>
                </a:solidFill>
                <a:latin typeface="Georgia"/>
              </a:rPr>
              <a:t>— Диагностика: попадает ли звук в момент события на сцене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355080"/>
            <a:ext cx="1078992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8A7355"/>
                </a:solidFill>
                <a:latin typeface="Georgia"/>
              </a:rPr>
              <a:t>Двенадцать уроков анимации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8A7355"/>
                </a:solidFill>
                <a:latin typeface="Georgia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noFill/>
          <a:ln w="15875">
            <a:solidFill>
              <a:srgbClr val="D6C3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>
                <a:solidFill>
                  <a:srgbClr val="7F1D1D"/>
                </a:solidFill>
                <a:latin typeface="Georgia"/>
              </a:rPr>
              <a:t>Урок 9. Медиа и запись результата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89888"/>
            <a:ext cx="2011680" cy="3657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463040"/>
            <a:ext cx="2011680" cy="3657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45920"/>
            <a:ext cx="1078992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F2D1E"/>
                </a:solidFill>
                <a:latin typeface="Georgia"/>
              </a:rPr>
              <a:t>— Цель: получить законченный файл, который можно показать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F2D1E"/>
                </a:solidFill>
                <a:latin typeface="Georgia"/>
              </a:rPr>
              <a:t>— Приём: загрузка картинки, видео по ссылке, запись сцены, экспорт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F2D1E"/>
                </a:solidFill>
                <a:latin typeface="Georgia"/>
              </a:rPr>
              <a:t>— Задание: ролик длиной в десять секунд с титрами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F2D1E"/>
                </a:solidFill>
                <a:latin typeface="Georgia"/>
              </a:rPr>
              <a:t>— Критерий: файл открывается без программы и воспроизводится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355080"/>
            <a:ext cx="1078992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8A7355"/>
                </a:solidFill>
                <a:latin typeface="Georgia"/>
              </a:rPr>
              <a:t>Двенадцать уроков анимации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8A7355"/>
                </a:solidFill>
                <a:latin typeface="Georgia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noFill/>
          <a:ln w="15875">
            <a:solidFill>
              <a:srgbClr val="D6C3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>
                <a:solidFill>
                  <a:srgbClr val="7F1D1D"/>
                </a:solidFill>
                <a:latin typeface="Georgia"/>
              </a:rPr>
              <a:t>Урок 10. Песочница как модель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89888"/>
            <a:ext cx="2011680" cy="3657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463040"/>
            <a:ext cx="2011680" cy="3657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45920"/>
            <a:ext cx="571500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0">
                <a:solidFill>
                  <a:srgbClr val="3F2D1E"/>
                </a:solidFill>
                <a:latin typeface="Georgia"/>
              </a:rPr>
              <a:t>— Цель: увидеть, как из простых правил получается сложное поведение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0">
                <a:solidFill>
                  <a:srgbClr val="3F2D1E"/>
                </a:solidFill>
                <a:latin typeface="Georgia"/>
              </a:rPr>
              <a:t>— Приём: тридцать восемь материалов, вода, огонь, пар, лёд, лава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0">
                <a:solidFill>
                  <a:srgbClr val="3F2D1E"/>
                </a:solidFill>
                <a:latin typeface="Georgia"/>
              </a:rPr>
              <a:t>— Задание: построить плотину, которую вода не прорвёт за минуту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0">
                <a:solidFill>
                  <a:srgbClr val="3F2D1E"/>
                </a:solidFill>
                <a:latin typeface="Georgia"/>
              </a:rPr>
              <a:t>— Критерий: ученик формулирует правило, по которому течёт вода</a:t>
            </a:r>
          </a:p>
        </p:txBody>
      </p:sp>
      <p:pic>
        <p:nvPicPr>
          <p:cNvPr id="8" name="Picture 7" descr="fig5-pow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2475517"/>
            <a:ext cx="4846320" cy="2501326"/>
          </a:xfrm>
          <a:prstGeom prst="rect">
            <a:avLst/>
          </a:prstGeom>
          <a:ln w="9525">
            <a:solidFill>
              <a:srgbClr val="B45309"/>
            </a:solidFill>
          </a:ln>
        </p:spPr>
      </p:pic>
      <p:sp>
        <p:nvSpPr>
          <p:cNvPr id="9" name="Rectangle 8"/>
          <p:cNvSpPr/>
          <p:nvPr/>
        </p:nvSpPr>
        <p:spPr>
          <a:xfrm>
            <a:off x="685800" y="6355080"/>
            <a:ext cx="1078992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8A7355"/>
                </a:solidFill>
                <a:latin typeface="Georgia"/>
              </a:rPr>
              <a:t>Двенадцать уроков анимации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8A7355"/>
                </a:solidFill>
                <a:latin typeface="Georgia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noFill/>
          <a:ln w="15875">
            <a:solidFill>
              <a:srgbClr val="D6C3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>
                <a:solidFill>
                  <a:srgbClr val="7F1D1D"/>
                </a:solidFill>
                <a:latin typeface="Georgia"/>
              </a:rPr>
              <a:t>Урок 11. Совместная работа и роли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89888"/>
            <a:ext cx="2011680" cy="3657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463040"/>
            <a:ext cx="2011680" cy="3657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45920"/>
            <a:ext cx="1078992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F2D1E"/>
                </a:solidFill>
                <a:latin typeface="Georgia"/>
              </a:rPr>
              <a:t>— Цель: научиться работать на одной сцене вчетвером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F2D1E"/>
                </a:solidFill>
                <a:latin typeface="Georgia"/>
              </a:rPr>
              <a:t>— Приём: общая комната, роли, чат, поднятая рука, опрос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F2D1E"/>
                </a:solidFill>
                <a:latin typeface="Georgia"/>
              </a:rPr>
              <a:t>— Задание: четыре человека собирают общую сцену за десять минут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F2D1E"/>
                </a:solidFill>
                <a:latin typeface="Georgia"/>
              </a:rPr>
              <a:t>— Диагностика: распределились ли роли сами или всё делал один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355080"/>
            <a:ext cx="1078992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8A7355"/>
                </a:solidFill>
                <a:latin typeface="Georgia"/>
              </a:rPr>
              <a:t>Двенадцать уроков анимации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8A7355"/>
                </a:solidFill>
                <a:latin typeface="Georgia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noFill/>
          <a:ln w="15875">
            <a:solidFill>
              <a:srgbClr val="D6C3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>
                <a:solidFill>
                  <a:srgbClr val="7F1D1D"/>
                </a:solidFill>
                <a:latin typeface="Georgia"/>
              </a:rPr>
              <a:t>Урок 12. Итоговый проект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89888"/>
            <a:ext cx="2011680" cy="3657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463040"/>
            <a:ext cx="2011680" cy="3657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45920"/>
            <a:ext cx="1078992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F2D1E"/>
                </a:solidFill>
                <a:latin typeface="Georgia"/>
              </a:rPr>
              <a:t>— Цель: защитить свою сцену за две минуты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F2D1E"/>
                </a:solidFill>
                <a:latin typeface="Georgia"/>
              </a:rPr>
              <a:t>— Приём: запись сцены, экспорт, QR-код, показ с телефона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F2D1E"/>
                </a:solidFill>
                <a:latin typeface="Georgia"/>
              </a:rPr>
              <a:t>— Задание: сцена, три минуты защиты, ответы на два вопроса класса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F2D1E"/>
                </a:solidFill>
                <a:latin typeface="Georgia"/>
              </a:rPr>
              <a:t>— Критерий: понятно, что хотел сказать автор, и видно, как сделано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355080"/>
            <a:ext cx="1078992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8A7355"/>
                </a:solidFill>
                <a:latin typeface="Georgia"/>
              </a:rPr>
              <a:t>Двенадцать уроков анимации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8A7355"/>
                </a:solidFill>
                <a:latin typeface="Georgia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noFill/>
          <a:ln w="15875">
            <a:solidFill>
              <a:srgbClr val="D6C3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>
                <a:solidFill>
                  <a:srgbClr val="7F1D1D"/>
                </a:solidFill>
                <a:latin typeface="Georgia"/>
              </a:rPr>
              <a:t>Темы итоговых проектов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89888"/>
            <a:ext cx="2011680" cy="3657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463040"/>
            <a:ext cx="2011680" cy="3657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45920"/>
            <a:ext cx="1078992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F2D1E"/>
                </a:solidFill>
                <a:latin typeface="Georgia"/>
              </a:rPr>
              <a:t>— Времена года в одном кадре: смена фона и погоды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F2D1E"/>
                </a:solidFill>
                <a:latin typeface="Georgia"/>
              </a:rPr>
              <a:t>— Как падает тело: опыт с гравитацией на разных планетах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F2D1E"/>
                </a:solidFill>
                <a:latin typeface="Georgia"/>
              </a:rPr>
              <a:t>— Вулкан: лава, пар, пепел и охлаждение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F2D1E"/>
                </a:solidFill>
                <a:latin typeface="Georgia"/>
              </a:rPr>
              <a:t>— Город ночью: окна, свет, движение транспорта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355080"/>
            <a:ext cx="1078992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8A7355"/>
                </a:solidFill>
                <a:latin typeface="Georgia"/>
              </a:rPr>
              <a:t>Двенадцать уроков анимации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8A7355"/>
                </a:solidFill>
                <a:latin typeface="Georgia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noFill/>
          <a:ln w="15875">
            <a:solidFill>
              <a:srgbClr val="D6C3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>
                <a:solidFill>
                  <a:srgbClr val="7F1D1D"/>
                </a:solidFill>
                <a:latin typeface="Georgia"/>
              </a:rPr>
              <a:t>Критерии оценки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89888"/>
            <a:ext cx="2011680" cy="3657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463040"/>
            <a:ext cx="2011680" cy="3657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45920"/>
            <a:ext cx="571500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0">
                <a:solidFill>
                  <a:srgbClr val="3F2D1E"/>
                </a:solidFill>
                <a:latin typeface="Georgia"/>
              </a:rPr>
              <a:t>— Задумка: есть ли у сцены смысл, а не только эффекты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0">
                <a:solidFill>
                  <a:srgbClr val="3F2D1E"/>
                </a:solidFill>
                <a:latin typeface="Georgia"/>
              </a:rPr>
              <a:t>— Техника: фигуры, анимации, физика применены уместно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0">
                <a:solidFill>
                  <a:srgbClr val="3F2D1E"/>
                </a:solidFill>
                <a:latin typeface="Georgia"/>
              </a:rPr>
              <a:t>— Оформление: цвет, композиция, титры, звук не мешают друг другу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0">
                <a:solidFill>
                  <a:srgbClr val="3F2D1E"/>
                </a:solidFill>
                <a:latin typeface="Georgia"/>
              </a:rPr>
              <a:t>— Защита: автор отвечает на вопросы и объясняет свои решения</a:t>
            </a:r>
          </a:p>
        </p:txBody>
      </p:sp>
      <p:pic>
        <p:nvPicPr>
          <p:cNvPr id="8" name="Picture 7" descr="fig10-tes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2358267"/>
            <a:ext cx="4846320" cy="2735825"/>
          </a:xfrm>
          <a:prstGeom prst="rect">
            <a:avLst/>
          </a:prstGeom>
          <a:ln w="9525">
            <a:solidFill>
              <a:srgbClr val="B45309"/>
            </a:solidFill>
          </a:ln>
        </p:spPr>
      </p:pic>
      <p:sp>
        <p:nvSpPr>
          <p:cNvPr id="9" name="Rectangle 8"/>
          <p:cNvSpPr/>
          <p:nvPr/>
        </p:nvSpPr>
        <p:spPr>
          <a:xfrm>
            <a:off x="685800" y="6355080"/>
            <a:ext cx="1078992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8A7355"/>
                </a:solidFill>
                <a:latin typeface="Georgia"/>
              </a:rPr>
              <a:t>Двенадцать уроков анимации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8A7355"/>
                </a:solidFill>
                <a:latin typeface="Georgia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noFill/>
          <a:ln w="15875">
            <a:solidFill>
              <a:srgbClr val="D6C3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>
                <a:solidFill>
                  <a:srgbClr val="7F1D1D"/>
                </a:solidFill>
                <a:latin typeface="Georgia"/>
              </a:rPr>
              <a:t>Типичные ошибки учеников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89888"/>
            <a:ext cx="2011680" cy="3657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463040"/>
            <a:ext cx="2011680" cy="3657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45920"/>
            <a:ext cx="1078992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F2D1E"/>
                </a:solidFill>
                <a:latin typeface="Georgia"/>
              </a:rPr>
              <a:t>— Открывают файл двойным щелчком вместо адреса в браузере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F2D1E"/>
                </a:solidFill>
                <a:latin typeface="Georgia"/>
              </a:rPr>
              <a:t>— Забывают сохранить сцену и теряют работу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F2D1E"/>
                </a:solidFill>
                <a:latin typeface="Georgia"/>
              </a:rPr>
              <a:t>— Включают все анимации сразу и получают кашу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F2D1E"/>
                </a:solidFill>
                <a:latin typeface="Georgia"/>
              </a:rPr>
              <a:t>— Ставят фигуры внахлёст и не понимают, почему одна исчезла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355080"/>
            <a:ext cx="1078992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8A7355"/>
                </a:solidFill>
                <a:latin typeface="Georgia"/>
              </a:rPr>
              <a:t>Двенадцать уроков анимации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8A7355"/>
                </a:solidFill>
                <a:latin typeface="Georgia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noFill/>
          <a:ln w="15875">
            <a:solidFill>
              <a:srgbClr val="D6C3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>
                <a:solidFill>
                  <a:srgbClr val="7F1D1D"/>
                </a:solidFill>
                <a:latin typeface="Georgia"/>
              </a:rPr>
              <a:t>Если что-то не работает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89888"/>
            <a:ext cx="2011680" cy="3657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463040"/>
            <a:ext cx="2011680" cy="3657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45920"/>
            <a:ext cx="1078992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F2D1E"/>
                </a:solidFill>
                <a:latin typeface="Georgia"/>
              </a:rPr>
              <a:t>— Нет соединения: программа продолжает работать в одиночном режиме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F2D1E"/>
                </a:solidFill>
                <a:latin typeface="Georgia"/>
              </a:rPr>
              <a:t>— Не идёт звук: проверьте разрешение браузера на микрофон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F2D1E"/>
                </a:solidFill>
                <a:latin typeface="Georgia"/>
              </a:rPr>
              <a:t>— Тормозит: уменьшите число объектов и выключите лишние эффекты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F2D1E"/>
                </a:solidFill>
                <a:latin typeface="Georgia"/>
              </a:rPr>
              <a:t>— Не открывается на телефоне: проверьте, что телефон в той же сети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355080"/>
            <a:ext cx="1078992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8A7355"/>
                </a:solidFill>
                <a:latin typeface="Georgia"/>
              </a:rPr>
              <a:t>Двенадцать уроков анимации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8A7355"/>
                </a:solidFill>
                <a:latin typeface="Georgia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noFill/>
          <a:ln w="15875">
            <a:solidFill>
              <a:srgbClr val="D6C3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>
                <a:solidFill>
                  <a:srgbClr val="7F1D1D"/>
                </a:solidFill>
                <a:latin typeface="Georgia"/>
              </a:rPr>
              <a:t>Работа с сильными учениками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89888"/>
            <a:ext cx="2011680" cy="3657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463040"/>
            <a:ext cx="2011680" cy="3657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45920"/>
            <a:ext cx="1078992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F2D1E"/>
                </a:solidFill>
                <a:latin typeface="Georgia"/>
              </a:rPr>
              <a:t>— Задание со звёздочкой: найти в коде модуль эффекта и изменить число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F2D1E"/>
                </a:solidFill>
                <a:latin typeface="Georgia"/>
              </a:rPr>
              <a:t>— Роль ассистента: обходит ряд и помогает отстающим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F2D1E"/>
                </a:solidFill>
                <a:latin typeface="Georgia"/>
              </a:rPr>
              <a:t>— Своя тема проекта вместо предложенной из списка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F2D1E"/>
                </a:solidFill>
                <a:latin typeface="Georgia"/>
              </a:rPr>
              <a:t>— Подготовка вопросов для защиты чужих работ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355080"/>
            <a:ext cx="1078992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8A7355"/>
                </a:solidFill>
                <a:latin typeface="Georgia"/>
              </a:rPr>
              <a:t>Двенадцать уроков анимации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8A7355"/>
                </a:solidFill>
                <a:latin typeface="Georgia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noFill/>
          <a:ln w="15875">
            <a:solidFill>
              <a:srgbClr val="D6C3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>
                <a:solidFill>
                  <a:srgbClr val="7F1D1D"/>
                </a:solidFill>
                <a:latin typeface="Georgia"/>
              </a:rPr>
              <a:t>Помощь тем, кто отстаёт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89888"/>
            <a:ext cx="2011680" cy="3657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463040"/>
            <a:ext cx="2011680" cy="3657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45920"/>
            <a:ext cx="1078992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F2D1E"/>
                </a:solidFill>
                <a:latin typeface="Georgia"/>
              </a:rPr>
              <a:t>— Упрощённый вариант задания: две фигуры вместо пяти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F2D1E"/>
                </a:solidFill>
                <a:latin typeface="Georgia"/>
              </a:rPr>
              <a:t>— Парная работа с сильным учеником, но не вместо него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F2D1E"/>
                </a:solidFill>
                <a:latin typeface="Georgia"/>
              </a:rPr>
              <a:t>— Готовый образец, от которого можно оттолкнуться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F2D1E"/>
                </a:solidFill>
                <a:latin typeface="Georgia"/>
              </a:rPr>
              <a:t>— Проверка на следующем уроке, а не сразу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355080"/>
            <a:ext cx="1078992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8A7355"/>
                </a:solidFill>
                <a:latin typeface="Georgia"/>
              </a:rPr>
              <a:t>Двенадцать уроков анимации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8A7355"/>
                </a:solidFill>
                <a:latin typeface="Georgia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noFill/>
          <a:ln w="15875">
            <a:solidFill>
              <a:srgbClr val="D6C3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>
                <a:solidFill>
                  <a:srgbClr val="7F1D1D"/>
                </a:solidFill>
                <a:latin typeface="Georgia"/>
              </a:rPr>
              <a:t>Если урок сорвался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89888"/>
            <a:ext cx="2011680" cy="3657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463040"/>
            <a:ext cx="2011680" cy="3657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45920"/>
            <a:ext cx="1078992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F2D1E"/>
                </a:solidFill>
                <a:latin typeface="Georgia"/>
              </a:rPr>
              <a:t>— Сорван один урок: переносим его в следующий, сетку не сдвигаем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F2D1E"/>
                </a:solidFill>
                <a:latin typeface="Georgia"/>
              </a:rPr>
              <a:t>— Сорвано два: уроки физики объединяем в один сдвоенный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F2D1E"/>
                </a:solidFill>
                <a:latin typeface="Georgia"/>
              </a:rPr>
              <a:t>— Сорвано три: пропускаем трёхмерный режим, он не обязателен дальше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F2D1E"/>
                </a:solidFill>
                <a:latin typeface="Georgia"/>
              </a:rPr>
              <a:t>— Итоговый проект переносится, но защита остаётся последним занятием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355080"/>
            <a:ext cx="1078992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8A7355"/>
                </a:solidFill>
                <a:latin typeface="Georgia"/>
              </a:rPr>
              <a:t>Двенадцать уроков анимации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8A7355"/>
                </a:solidFill>
                <a:latin typeface="Georgia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noFill/>
          <a:ln w="15875">
            <a:solidFill>
              <a:srgbClr val="D6C3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>
                <a:solidFill>
                  <a:srgbClr val="7F1D1D"/>
                </a:solidFill>
                <a:latin typeface="Georgia"/>
              </a:rPr>
              <a:t>Интеграция с информатикой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89888"/>
            <a:ext cx="2011680" cy="3657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463040"/>
            <a:ext cx="2011680" cy="3657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45920"/>
            <a:ext cx="1078992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F2D1E"/>
                </a:solidFill>
                <a:latin typeface="Georgia"/>
              </a:rPr>
              <a:t>— Координаты и системы отсчёта — на уроках со сценой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F2D1E"/>
                </a:solidFill>
                <a:latin typeface="Georgia"/>
              </a:rPr>
              <a:t>— Алгоритмы и ветвление — на правилах песочницы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F2D1E"/>
                </a:solidFill>
                <a:latin typeface="Georgia"/>
              </a:rPr>
              <a:t>— Кодирование информации — на примере записи сцены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F2D1E"/>
                </a:solidFill>
                <a:latin typeface="Georgia"/>
              </a:rPr>
              <a:t>— Сети и протоколы — на примере общей комнаты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355080"/>
            <a:ext cx="1078992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8A7355"/>
                </a:solidFill>
                <a:latin typeface="Georgia"/>
              </a:rPr>
              <a:t>Двенадцать уроков анимации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8A7355"/>
                </a:solidFill>
                <a:latin typeface="Georgia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noFill/>
          <a:ln w="15875">
            <a:solidFill>
              <a:srgbClr val="D6C3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>
                <a:solidFill>
                  <a:srgbClr val="7F1D1D"/>
                </a:solidFill>
                <a:latin typeface="Georgia"/>
              </a:rPr>
              <a:t>Интеграция с физикой и математикой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89888"/>
            <a:ext cx="2011680" cy="3657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463040"/>
            <a:ext cx="2011680" cy="3657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45920"/>
            <a:ext cx="1078992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F2D1E"/>
                </a:solidFill>
                <a:latin typeface="Georgia"/>
              </a:rPr>
              <a:t>— Равноускоренное движение — урок с падением и графиком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F2D1E"/>
                </a:solidFill>
                <a:latin typeface="Georgia"/>
              </a:rPr>
              <a:t>— Упругий и неупругий удар — урок со столкновениями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F2D1E"/>
                </a:solidFill>
                <a:latin typeface="Georgia"/>
              </a:rPr>
              <a:t>— Траектория и угол — урок с выстрелом и прицелом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F2D1E"/>
                </a:solidFill>
                <a:latin typeface="Georgia"/>
              </a:rPr>
              <a:t>— Масштаб и пропорции — урок с трёхмерной сценой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355080"/>
            <a:ext cx="1078992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8A7355"/>
                </a:solidFill>
                <a:latin typeface="Georgia"/>
              </a:rPr>
              <a:t>Двенадцать уроков анимации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8A7355"/>
                </a:solidFill>
                <a:latin typeface="Georgia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noFill/>
          <a:ln w="15875">
            <a:solidFill>
              <a:srgbClr val="D6C3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>
                <a:solidFill>
                  <a:srgbClr val="7F1D1D"/>
                </a:solidFill>
                <a:latin typeface="Georgia"/>
              </a:rPr>
              <a:t>Домашние задания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89888"/>
            <a:ext cx="2011680" cy="3657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463040"/>
            <a:ext cx="2011680" cy="3657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45920"/>
            <a:ext cx="1078992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F2D1E"/>
                </a:solidFill>
                <a:latin typeface="Georgia"/>
              </a:rPr>
              <a:t>— Задание должно занимать не больше двадцати минут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F2D1E"/>
                </a:solidFill>
                <a:latin typeface="Georgia"/>
              </a:rPr>
              <a:t>— Формулировка одна, без «по желанию»: выполнение проверяется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F2D1E"/>
                </a:solidFill>
                <a:latin typeface="Georgia"/>
              </a:rPr>
              <a:t>— Результат приносится в виде ссылки, файла или QR-кода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F2D1E"/>
                </a:solidFill>
                <a:latin typeface="Georgia"/>
              </a:rPr>
              <a:t>— Одно задание в неделю, в тот же день недели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355080"/>
            <a:ext cx="1078992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8A7355"/>
                </a:solidFill>
                <a:latin typeface="Georgia"/>
              </a:rPr>
              <a:t>Двенадцать уроков анимации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8A7355"/>
                </a:solidFill>
                <a:latin typeface="Georgia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noFill/>
          <a:ln w="15875">
            <a:solidFill>
              <a:srgbClr val="D6C3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>
                <a:solidFill>
                  <a:srgbClr val="7F1D1D"/>
                </a:solidFill>
                <a:latin typeface="Georgia"/>
              </a:rPr>
              <a:t>Аттестация и портфолио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89888"/>
            <a:ext cx="2011680" cy="3657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463040"/>
            <a:ext cx="2011680" cy="3657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45920"/>
            <a:ext cx="1078992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F2D1E"/>
                </a:solidFill>
                <a:latin typeface="Georgia"/>
              </a:rPr>
              <a:t>— Практическая часть: собрать сцену по описанию за двадцать минут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F2D1E"/>
                </a:solidFill>
                <a:latin typeface="Georgia"/>
              </a:rPr>
              <a:t>— Устная часть: объяснить два своих решения и показать работы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F2D1E"/>
                </a:solidFill>
                <a:latin typeface="Georgia"/>
              </a:rPr>
              <a:t>— Оценивание по четырём критериям, каждый от нуля до трёх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F2D1E"/>
                </a:solidFill>
                <a:latin typeface="Georgia"/>
              </a:rPr>
              <a:t>— Портфолио: двенадцать работ и QR-код лучшей сцены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355080"/>
            <a:ext cx="1078992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8A7355"/>
                </a:solidFill>
                <a:latin typeface="Georgia"/>
              </a:rPr>
              <a:t>Двенадцать уроков анимации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8A7355"/>
                </a:solidFill>
                <a:latin typeface="Georgia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noFill/>
          <a:ln w="15875">
            <a:solidFill>
              <a:srgbClr val="D6C3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>
                <a:solidFill>
                  <a:srgbClr val="7F1D1D"/>
                </a:solidFill>
                <a:latin typeface="Georgia"/>
              </a:rPr>
              <a:t>Частые вопросы коллег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89888"/>
            <a:ext cx="2011680" cy="3657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463040"/>
            <a:ext cx="2011680" cy="3657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45920"/>
            <a:ext cx="1078992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F2D1E"/>
                </a:solidFill>
                <a:latin typeface="Georgia"/>
              </a:rPr>
              <a:t>— Нужна ли установка: нет, только браузер и запущенный сервер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F2D1E"/>
                </a:solidFill>
                <a:latin typeface="Georgia"/>
              </a:rPr>
              <a:t>— Нужен ли интернет: нет, без него не будет только погоды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F2D1E"/>
                </a:solidFill>
                <a:latin typeface="Georgia"/>
              </a:rPr>
              <a:t>— Можно ли с телефона: да, от четырёх дюймов экрана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F2D1E"/>
                </a:solidFill>
                <a:latin typeface="Georgia"/>
              </a:rPr>
              <a:t>— Что делать, если сервер не поднялся: работать в одиночном режиме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355080"/>
            <a:ext cx="1078992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8A7355"/>
                </a:solidFill>
                <a:latin typeface="Georgia"/>
              </a:rPr>
              <a:t>Двенадцать уроков анимации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8A7355"/>
                </a:solidFill>
                <a:latin typeface="Georgia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noFill/>
          <a:ln w="15875">
            <a:solidFill>
              <a:srgbClr val="D6C3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>
                <a:solidFill>
                  <a:srgbClr val="7F1D1D"/>
                </a:solidFill>
                <a:latin typeface="Georgia"/>
              </a:rPr>
              <a:t>Чек-лист перед уроком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89888"/>
            <a:ext cx="2011680" cy="3657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463040"/>
            <a:ext cx="2011680" cy="3657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45920"/>
            <a:ext cx="1078992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F2D1E"/>
                </a:solidFill>
                <a:latin typeface="Georgia"/>
              </a:rPr>
              <a:t>— Сервер запущен, адрес комнаты записан на доске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F2D1E"/>
                </a:solidFill>
                <a:latin typeface="Georgia"/>
              </a:rPr>
              <a:t>— Звук проверен на одном воспроизведении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F2D1E"/>
                </a:solidFill>
                <a:latin typeface="Georgia"/>
              </a:rPr>
              <a:t>— Задание напечатано или открыто на экране входа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F2D1E"/>
                </a:solidFill>
                <a:latin typeface="Georgia"/>
              </a:rPr>
              <a:t>— Задания со звёздочкой приготовлены для сильных учеников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355080"/>
            <a:ext cx="1078992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8A7355"/>
                </a:solidFill>
                <a:latin typeface="Georgia"/>
              </a:rPr>
              <a:t>Двенадцать уроков анимации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8A7355"/>
                </a:solidFill>
                <a:latin typeface="Georgia"/>
              </a:rPr>
              <a:t>31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